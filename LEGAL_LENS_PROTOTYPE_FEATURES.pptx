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CF4FF"/>
                </a:solidFill>
                <a:latin typeface="Aptos"/>
              </a:defRPr>
            </a:pPr>
            <a:r>
              <a:t>LEGAL LENS — PROTOTYPE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530352"/>
            <a:ext cx="1737360" cy="256032"/>
          </a:xfrm>
          <a:prstGeom prst="roundRect">
            <a:avLst/>
          </a:prstGeom>
          <a:solidFill>
            <a:srgbClr val="117D69"/>
          </a:solidFill>
          <a:ln>
            <a:solidFill>
              <a:srgbClr val="117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4FFFA"/>
                </a:solidFill>
                <a:latin typeface="Aptos"/>
              </a:defRPr>
            </a:pPr>
            <a:r>
              <a:t>WORKING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9496" y="1161288"/>
            <a:ext cx="384048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124712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Multi-Photo Scanning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Multiple product views</a:t>
            </a:r>
            <a:br/>
            <a:r>
              <a:t>Front / Back / Left / Right / Top</a:t>
            </a:r>
            <a:br/>
            <a:r>
              <a:t>Combined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051560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07408" y="1161288"/>
            <a:ext cx="384048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124712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AI + OCR Analysis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Image analysis</a:t>
            </a:r>
            <a:br/>
            <a:r>
              <a:t>OCR text extraction</a:t>
            </a:r>
            <a:br/>
            <a:r>
              <a:t>Product name, MRP, quantity, origin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7304" y="1051560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20" y="1161288"/>
            <a:ext cx="384048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1124712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Compliance Engine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Rule-based checks</a:t>
            </a:r>
            <a:br/>
            <a:r>
              <a:t>Missing declarations</a:t>
            </a:r>
            <a:br/>
            <a:r>
              <a:t>Compliance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386584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" y="2496312"/>
            <a:ext cx="384048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459736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Demo Mode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No account required</a:t>
            </a:r>
            <a:br/>
            <a:r>
              <a:t>Official demo flow</a:t>
            </a:r>
            <a:br/>
            <a:r>
              <a:t>Isolated demo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386584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7408" y="2496312"/>
            <a:ext cx="384048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459736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Dynamic Progress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Image Processing → Detection → OCR → Extraction → Rule Validation → Report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2386584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20" y="2496312"/>
            <a:ext cx="384048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2459736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Compliance Score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100% Fully Compliant</a:t>
            </a:r>
            <a:br/>
            <a:r>
              <a:t>90–99% Mostly Compliant</a:t>
            </a:r>
            <a:br/>
            <a:r>
              <a:t>75–89% Partially Compliant</a:t>
            </a:r>
            <a:br/>
            <a:r>
              <a:t>50–74% Action Required</a:t>
            </a:r>
            <a:br/>
            <a:r>
              <a:t>0–49% Non-Compliant</a:t>
            </a:r>
            <a:br/>
            <a:r>
              <a:t>Manual Verification when score unavailable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721608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9496" y="3831336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79476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Automated Report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Structured findings</a:t>
            </a:r>
            <a:br/>
            <a:r>
              <a:t>Detected information</a:t>
            </a:r>
            <a:br/>
            <a:r>
              <a:t>Missing declarations</a:t>
            </a:r>
            <a:br/>
            <a:r>
              <a:t>Applicable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3721608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07408" y="3831336"/>
            <a:ext cx="384048" cy="384048"/>
          </a:xfrm>
          <a:prstGeom prst="round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79476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Scan History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Stored analyses</a:t>
            </a:r>
            <a:br/>
            <a:r>
              <a:t>Product, date, score, status</a:t>
            </a:r>
            <a:br/>
            <a:r>
              <a:t>Official review access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7304" y="3721608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20" y="3831336"/>
            <a:ext cx="384048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379476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Product Repository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Search and manage products</a:t>
            </a:r>
            <a:br/>
            <a:r>
              <a:t>Images, scores, scan history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056632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496" y="5166360"/>
            <a:ext cx="384048" cy="384048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5129784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Official Dashboard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Official-only access</a:t>
            </a:r>
            <a:br/>
            <a:r>
              <a:t>Scanning, history, products, reports, settings, support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9392" y="5056632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07408" y="5166360"/>
            <a:ext cx="384048" cy="384048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129784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Unified Navigation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Dashboard • Operations • History • Products • Settings • Support • Logout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47304" y="5056632"/>
            <a:ext cx="3611880" cy="1170432"/>
          </a:xfrm>
          <a:prstGeom prst="roundRect">
            <a:avLst/>
          </a:prstGeom>
          <a:solidFill>
            <a:srgbClr val="141F2E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75320" y="5166360"/>
            <a:ext cx="384048" cy="384048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14232" y="5129784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F6FF"/>
                </a:solidFill>
                <a:latin typeface="Aptos"/>
              </a:defRPr>
            </a:pPr>
            <a:r>
              <a:t>Modern Responsive UI</a:t>
            </a:r>
          </a:p>
          <a:p>
            <a:pPr>
              <a:lnSpc>
                <a:spcPct val="110000"/>
              </a:lnSpc>
              <a:defRPr sz="650">
                <a:solidFill>
                  <a:srgbClr val="BFD1E6"/>
                </a:solidFill>
                <a:latin typeface="Aptos"/>
              </a:defRPr>
            </a:pPr>
            <a:r>
              <a:t>GovTech dashboard design</a:t>
            </a:r>
            <a:br/>
            <a:r>
              <a:t>Responsive cards</a:t>
            </a:r>
            <a:br/>
            <a:r>
              <a:t>Consistent colors, icons, type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5943600"/>
            <a:ext cx="1572768" cy="457200"/>
          </a:xfrm>
          <a:prstGeom prst="roundRect">
            <a:avLst/>
          </a:prstGeom>
          <a:solidFill>
            <a:srgbClr val="1220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" rIns="4" tIns="2" bIns="2"/>
          <a:lstStyle/>
          <a:p>
            <a:pPr algn="ctr">
              <a:defRPr sz="710" b="1">
                <a:solidFill>
                  <a:srgbClr val="E3EEFF"/>
                </a:solidFill>
                <a:latin typeface="Aptos"/>
              </a:defRPr>
            </a:pPr>
            <a:r>
              <a:t>MULTI-PHOTO UPLOAD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856232" y="6089904"/>
            <a:ext cx="219456" cy="164592"/>
          </a:xfrm>
          <a:prstGeom prst="right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947672" y="5943600"/>
            <a:ext cx="1572768" cy="457200"/>
          </a:xfrm>
          <a:prstGeom prst="roundRect">
            <a:avLst/>
          </a:prstGeom>
          <a:solidFill>
            <a:srgbClr val="1220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" rIns="4" tIns="2" bIns="2"/>
          <a:lstStyle/>
          <a:p>
            <a:pPr algn="ctr">
              <a:defRPr sz="710" b="1">
                <a:solidFill>
                  <a:srgbClr val="E3EEFF"/>
                </a:solidFill>
                <a:latin typeface="Aptos"/>
              </a:defRPr>
            </a:pPr>
            <a:r>
              <a:t>AI / IMAGE ANALYSIS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3483864" y="6089904"/>
            <a:ext cx="219456" cy="164592"/>
          </a:xfrm>
          <a:prstGeom prst="right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75304" y="5943600"/>
            <a:ext cx="1572768" cy="457200"/>
          </a:xfrm>
          <a:prstGeom prst="roundRect">
            <a:avLst/>
          </a:prstGeom>
          <a:solidFill>
            <a:srgbClr val="1220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" rIns="4" tIns="2" bIns="2"/>
          <a:lstStyle/>
          <a:p>
            <a:pPr algn="ctr">
              <a:defRPr sz="710" b="1">
                <a:solidFill>
                  <a:srgbClr val="E3EEFF"/>
                </a:solidFill>
                <a:latin typeface="Aptos"/>
              </a:defRPr>
            </a:pPr>
            <a:r>
              <a:t>OCR TEXT EXTRACTION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111496" y="6089904"/>
            <a:ext cx="219456" cy="164592"/>
          </a:xfrm>
          <a:prstGeom prst="right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202936" y="5943600"/>
            <a:ext cx="1572768" cy="457200"/>
          </a:xfrm>
          <a:prstGeom prst="roundRect">
            <a:avLst/>
          </a:prstGeom>
          <a:solidFill>
            <a:srgbClr val="1220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" rIns="4" tIns="2" bIns="2"/>
          <a:lstStyle/>
          <a:p>
            <a:pPr algn="ctr">
              <a:defRPr sz="710" b="1">
                <a:solidFill>
                  <a:srgbClr val="E3EEFF"/>
                </a:solidFill>
                <a:latin typeface="Aptos"/>
              </a:defRPr>
            </a:pPr>
            <a:r>
              <a:t>DATA STRUCTURING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6739128" y="6089904"/>
            <a:ext cx="219456" cy="164592"/>
          </a:xfrm>
          <a:prstGeom prst="right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30568" y="5943600"/>
            <a:ext cx="1572768" cy="457200"/>
          </a:xfrm>
          <a:prstGeom prst="roundRect">
            <a:avLst/>
          </a:prstGeom>
          <a:solidFill>
            <a:srgbClr val="1220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" rIns="4" tIns="2" bIns="2"/>
          <a:lstStyle/>
          <a:p>
            <a:pPr algn="ctr">
              <a:defRPr sz="710" b="1">
                <a:solidFill>
                  <a:srgbClr val="E3EEFF"/>
                </a:solidFill>
                <a:latin typeface="Aptos"/>
              </a:defRPr>
            </a:pPr>
            <a:r>
              <a:t>LEGAL METROLOGY RULE CHECK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8366760" y="6089904"/>
            <a:ext cx="219456" cy="164592"/>
          </a:xfrm>
          <a:prstGeom prst="right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458200" y="5943600"/>
            <a:ext cx="1572768" cy="457200"/>
          </a:xfrm>
          <a:prstGeom prst="roundRect">
            <a:avLst/>
          </a:prstGeom>
          <a:solidFill>
            <a:srgbClr val="1220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" rIns="4" tIns="2" bIns="2"/>
          <a:lstStyle/>
          <a:p>
            <a:pPr algn="ctr">
              <a:defRPr sz="710" b="1">
                <a:solidFill>
                  <a:srgbClr val="E3EEFF"/>
                </a:solidFill>
                <a:latin typeface="Aptos"/>
              </a:defRPr>
            </a:pPr>
            <a:r>
              <a:t>COMPLIANCE SCORE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9994392" y="6089904"/>
            <a:ext cx="219456" cy="164592"/>
          </a:xfrm>
          <a:prstGeom prst="right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085832" y="5943600"/>
            <a:ext cx="1572768" cy="457200"/>
          </a:xfrm>
          <a:prstGeom prst="roundRect">
            <a:avLst/>
          </a:prstGeom>
          <a:solidFill>
            <a:srgbClr val="1220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" rIns="4" tIns="2" bIns="2"/>
          <a:lstStyle/>
          <a:p>
            <a:pPr algn="ctr">
              <a:defRPr sz="710" b="1">
                <a:solidFill>
                  <a:srgbClr val="E3EEFF"/>
                </a:solidFill>
                <a:latin typeface="Aptos"/>
              </a:defRPr>
            </a:pPr>
            <a:r>
              <a:t>AUTOMATED REPORT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528816"/>
            <a:ext cx="11201400" cy="18288"/>
          </a:xfrm>
          <a:prstGeom prst="rect">
            <a:avLst/>
          </a:prstGeom>
          <a:solidFill>
            <a:srgbClr val="3F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